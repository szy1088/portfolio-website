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804672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A股短线主线与“龙回头”观察池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91640"/>
            <a:ext cx="969264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E6EAEC"/>
                </a:solidFill>
                <a:latin typeface="Microsoft YaHei"/>
              </a:rPr>
              <a:t>2026-06-08 盘前作战报告｜非龙头不炒、右侧确认、纪律止损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43200"/>
            <a:ext cx="237744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07792"/>
            <a:ext cx="21031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C42D23"/>
                </a:solidFill>
                <a:latin typeface="Microsoft YaHei"/>
              </a:rPr>
              <a:t>4027.74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38144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上证指数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30752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东方财富盘前展示：-0.74%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2743200"/>
            <a:ext cx="237744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907792"/>
            <a:ext cx="21031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D895C"/>
                </a:solidFill>
                <a:latin typeface="Microsoft YaHei"/>
              </a:rPr>
              <a:t>15314.70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438144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深证成指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730752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东方财富盘前展示：-2.21%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743200"/>
            <a:ext cx="2377440" cy="14173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907792"/>
            <a:ext cx="21031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BF8B32"/>
                </a:solidFill>
                <a:latin typeface="Microsoft YaHei"/>
              </a:rPr>
              <a:t>T+1 /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438144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主板短线约束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730752"/>
            <a:ext cx="210312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只做触发，不做冲动追高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105156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结论先行：6月8日开盘前仍是“上一交易日数据 + 当日资讯催化”的环境，适合准备观察池，不适合把盘前观点当盘后定论。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来源：东方财富网首页（published at 2026/6/8 7:22:02）与指数接口；访问时间 2026-06-08 07:17-07:22 CST。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109728" cy="109728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06970"/>
                </a:solidFill>
                <a:latin typeface="Microsoft YaHei"/>
              </a:rPr>
              <a:t>MARKET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1F26"/>
                </a:solidFill>
                <a:latin typeface="Microsoft YaHei"/>
              </a:rPr>
              <a:t>今天的任务不是预测全天，而是锁定开盘后最可能扩散的主线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06970"/>
                </a:solidFill>
                <a:latin typeface="Microsoft YaHei"/>
              </a:rPr>
              <a:t>盘前无法确认涨停梯队和资金流入，先用主线强度 + 承接形态建立交易预案。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2286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20116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D895C"/>
                </a:solidFill>
                <a:latin typeface="Microsoft YaHei"/>
              </a:rPr>
              <a:t>弱修复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9463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指数环境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20116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上一交易日主要指数回落，短线仓位应轻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874519"/>
            <a:ext cx="2286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2039112"/>
            <a:ext cx="20116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B5C8C"/>
                </a:solidFill>
                <a:latin typeface="Microsoft YaHei"/>
              </a:rPr>
              <a:t>科技扩散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569463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资讯线索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862072"/>
            <a:ext cx="20116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东方财富首页出现 AI 浪潮/科技主题内容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874519"/>
            <a:ext cx="2286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2039112"/>
            <a:ext cx="20116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BF8B32"/>
                </a:solidFill>
                <a:latin typeface="Microsoft YaHei"/>
              </a:rPr>
              <a:t>主板优先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569463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制度选择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862072"/>
            <a:ext cx="20116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10%涨跌幅，适合纪律型龙回头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874519"/>
            <a:ext cx="2286000" cy="132588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39112"/>
            <a:ext cx="20116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C42D23"/>
                </a:solidFill>
                <a:latin typeface="Microsoft YaHei"/>
              </a:rPr>
              <a:t>右侧确认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69463"/>
            <a:ext cx="2011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执行方式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62072"/>
            <a:ext cx="20116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不抢一字，不接放量破位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657600"/>
            <a:ext cx="475488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657600"/>
            <a:ext cx="64008" cy="1737360"/>
          </a:xfrm>
          <a:prstGeom prst="rect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803904"/>
            <a:ext cx="443484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盘前主线候选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187952"/>
            <a:ext cx="4434840" cy="11704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AI算力/光通信：受AI浪潮持续扩散资讯催化，关注硬件链条承接。
• 机器人/设备更新：政策和产业趋势反复活跃，适合找弹性龙头。
• 电力/能源安全：防御与事件催化并存，适合指数弱时观察。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3657600"/>
            <a:ext cx="475488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3657600"/>
            <a:ext cx="64008" cy="1737360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3803904"/>
            <a:ext cx="443484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盘中确认顺序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4187952"/>
            <a:ext cx="4434840" cy="117043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先看涨停家数与最高连板高度；跌停放大则降仓。
• 主线板块内谁先回封、谁最抗跌，才有龙头资格。
• 个股必须接近10/20日线止跌或放量突破关键阴线高点。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来源：东方财富网首页与指数接口、用户方案文档；访问时间 2026-06-08 07:17-07:22 CST。仅作研究，不构成投资建议。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109728" cy="109728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06970"/>
                </a:solidFill>
                <a:latin typeface="Microsoft YaHei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1F26"/>
                </a:solidFill>
                <a:latin typeface="Microsoft YaHei"/>
              </a:rPr>
              <a:t>方案的核心不是“买股票”，而是只在热点龙头二波里等确认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06970"/>
                </a:solidFill>
                <a:latin typeface="Microsoft YaHei"/>
              </a:rPr>
              <a:t>从方案文档抽取：选热点 -&gt; 挑龙头 -&gt; 缩量低吸 -&gt; 放量右侧加仓 -&gt; 止损止盈。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182880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84831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2D23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78608"/>
            <a:ext cx="16002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F26"/>
                </a:solidFill>
                <a:latin typeface="Microsoft YaHei"/>
              </a:rPr>
              <a:t>1 主流题材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127248"/>
            <a:ext cx="1572768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政策驱动、产业突破、资金持续净流入；只看最强2-3条线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9232" y="1920240"/>
            <a:ext cx="182880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084831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2D23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78608"/>
            <a:ext cx="16002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F26"/>
                </a:solidFill>
                <a:latin typeface="Microsoft YaHei"/>
              </a:rPr>
              <a:t>2 龙头辨识度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27248"/>
            <a:ext cx="1572768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前期2-3个强势连板或板块内最早、最坚决封板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21224" y="1920240"/>
            <a:ext cx="182880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2084831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2D23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578608"/>
            <a:ext cx="16002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F26"/>
                </a:solidFill>
                <a:latin typeface="Microsoft YaHei"/>
              </a:rPr>
              <a:t>3 缩量回踩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3127248"/>
            <a:ext cx="1572768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回调3-8日，幅度约20%-30%，量能显著萎缩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43216" y="1920240"/>
            <a:ext cx="182880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2084831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2D23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2578608"/>
            <a:ext cx="16002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F26"/>
                </a:solidFill>
                <a:latin typeface="Microsoft YaHei"/>
              </a:rPr>
              <a:t>4 右侧买点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3127248"/>
            <a:ext cx="1572768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10/20日线止跌，或放量突破关键阴线高点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5208" y="1920240"/>
            <a:ext cx="1828800" cy="2514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74936" y="2084831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C42D23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4936" y="2578608"/>
            <a:ext cx="16002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1F26"/>
                </a:solidFill>
                <a:latin typeface="Microsoft YaHei"/>
              </a:rPr>
              <a:t>5 铁血纪律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4936" y="3127248"/>
            <a:ext cx="1572768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单股&lt;50%，-3%~-5%止损，5%~10%先落袋一半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074920"/>
            <a:ext cx="100584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81F26"/>
                </a:solidFill>
                <a:latin typeface="Microsoft YaHei"/>
              </a:rPr>
              <a:t>本报告只给“观察池 + 触发条件”。若开盘后题材不在涨幅榜前列、个股无量反抽或跌破结构，直接剔除。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来源：东方财富网首页与指数接口、用户方案文档；访问时间 2026-06-08 07:17-07:22 CST。仅作研究，不构成投资建议。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109728" cy="109728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06970"/>
                </a:solidFill>
                <a:latin typeface="Microsoft YaHei"/>
              </a:rPr>
              <a:t>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1F26"/>
                </a:solidFill>
                <a:latin typeface="Microsoft YaHei"/>
              </a:rPr>
              <a:t>三只观察股来自同一个漏斗：主线、主板、弹性、回踩、右侧信号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06970"/>
                </a:solidFill>
                <a:latin typeface="Microsoft YaHei"/>
              </a:rPr>
              <a:t>盘前版本不依赖未发生的6月8日涨停数据，盘中必须二次校验。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3291840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64008" cy="3017520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29718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必须满足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59152"/>
            <a:ext cx="2971800" cy="24505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沪深主板，非ST，10%涨跌幅。
• 处于当日最强主线之一，最好有板块联动。
• 前期有辨识度，不是长期阴跌反抽。
• 回踩不放量破位，仍在10/20日线附近。
• 买点只能来自止跌小阳或放量突破。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291840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64008" cy="3017520"/>
          </a:xfrm>
          <a:prstGeom prst="rect">
            <a:avLst/>
          </a:prstGeom>
          <a:solidFill>
            <a:srgbClr val="1D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975104"/>
            <a:ext cx="29718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一票否决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359152"/>
            <a:ext cx="2971800" cy="24505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开盘板块低于市场平均，个股孤立上涨。
• 放量跌破10日线/前大阳线低点。
• 高开秒板后开板爆量且回封无力。
• 流通盘过大弹性不足，或过小流动性不足。
• 亏损触发-3%~-5%仍想补仓。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3291840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64008" cy="3017520"/>
          </a:xfrm>
          <a:prstGeom prst="rect">
            <a:avLst/>
          </a:prstGeom>
          <a:solidFill>
            <a:srgbClr val="BF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975104"/>
            <a:ext cx="29718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仓位动作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59152"/>
            <a:ext cx="2971800" cy="24505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首笔只做30%观察仓。
• 右侧确认后再补确认仓。
• 单股总仓不超过短线资金50%。
• 盈利5%~10%先止盈一半。
• 3天不爆发且结构走坏，释放资金。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来源：东方财富网首页与指数接口、用户方案文档；访问时间 2026-06-08 07:17-07:22 CST。仅作研究，不构成投资建议。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109728" cy="109728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06970"/>
                </a:solidFill>
                <a:latin typeface="Microsoft YaHei"/>
              </a:rPr>
              <a:t>WATCHLIST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1F26"/>
                </a:solidFill>
                <a:latin typeface="Microsoft YaHei"/>
              </a:rPr>
              <a:t>盘前观察池：三只股分别对应AI硬件、机器人、电力设备三条线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06970"/>
                </a:solidFill>
                <a:latin typeface="Microsoft YaHei"/>
              </a:rPr>
              <a:t>它们不是“开盘就买”的名单，而是满足方案条件后才允许执行的候选。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10835640" cy="411480"/>
          </a:xfrm>
          <a:prstGeom prst="rect">
            <a:avLst/>
          </a:prstGeom>
          <a:solidFill>
            <a:srgbClr val="232A30"/>
          </a:solidFill>
          <a:ln w="8890">
            <a:solidFill>
              <a:srgbClr val="23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0584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股票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29384"/>
            <a:ext cx="82296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929384"/>
            <a:ext cx="141732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9384"/>
            <a:ext cx="265176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入池理由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929384"/>
            <a:ext cx="320040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触发条件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40280"/>
            <a:ext cx="10835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04872"/>
            <a:ext cx="10058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1F26"/>
                </a:solidFill>
                <a:latin typeface="Microsoft YaHei"/>
              </a:rPr>
              <a:t>永鼎股份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404872"/>
            <a:ext cx="82296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81F26"/>
                </a:solidFill>
                <a:latin typeface="Microsoft YaHei"/>
              </a:rPr>
              <a:t>600105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404872"/>
            <a:ext cx="14173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AI算力 / 光通信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404872"/>
            <a:ext cx="265176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主题贴近AI硬件扩散，主板弹性观察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404872"/>
            <a:ext cx="320040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等缩量靠近10/20日线，放量越过回踩阴线高点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264408"/>
            <a:ext cx="10835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10058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1F26"/>
                </a:solidFill>
                <a:latin typeface="Microsoft YaHei"/>
              </a:rPr>
              <a:t>东方精工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429000"/>
            <a:ext cx="82296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81F26"/>
                </a:solidFill>
                <a:latin typeface="Microsoft YaHei"/>
              </a:rPr>
              <a:t>002611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429000"/>
            <a:ext cx="14173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机器人 / 智能装备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429000"/>
            <a:ext cx="265176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主板设备弹性，适合政策与产业催化轮动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429000"/>
            <a:ext cx="320040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等板块强度确认，止跌小阳后分批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288536"/>
            <a:ext cx="108356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53128"/>
            <a:ext cx="100584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1F26"/>
                </a:solidFill>
                <a:latin typeface="Microsoft YaHei"/>
              </a:rPr>
              <a:t>明星电力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453128"/>
            <a:ext cx="82296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81F26"/>
                </a:solidFill>
                <a:latin typeface="Microsoft YaHei"/>
              </a:rPr>
              <a:t>600101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453128"/>
            <a:ext cx="141732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电力 / 能源安全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453128"/>
            <a:ext cx="265176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指数弱时具防御+事件弹性，主板属性清晰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453128"/>
            <a:ext cx="3200400" cy="530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19" b="0">
                <a:solidFill>
                  <a:srgbClr val="606970"/>
                </a:solidFill>
                <a:latin typeface="Microsoft YaHei"/>
              </a:rPr>
              <a:t>只做回调低吸或放量回封，不追高开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623560"/>
            <a:ext cx="105156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1F26"/>
                </a:solidFill>
                <a:latin typeface="Microsoft YaHei"/>
              </a:rPr>
              <a:t>盘中优先级：AI硬件确认则永鼎股份优先；机器人扩散则东方精工优先；指数继续偏弱且电力逆势时，明星电力才有防守型机会。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来源：东方财富网首页与指数接口、用户方案文档；访问时间 2026-06-08 07:17-07:22 CST。仅作研究，不构成投资建议。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109728" cy="109728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06970"/>
                </a:solidFill>
                <a:latin typeface="Microsoft YaHei"/>
              </a:rPr>
              <a:t>STOCK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1F26"/>
                </a:solidFill>
                <a:latin typeface="Microsoft YaHei"/>
              </a:rPr>
              <a:t>永鼎股份 600105：AI算力/光通信线的弹性观察标的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06970"/>
                </a:solidFill>
                <a:latin typeface="Microsoft YaHei"/>
              </a:rPr>
              <a:t>只在条件触发时执行；未触发时保留现金是交易的一部分。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480060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4008" cy="2560320"/>
          </a:xfrm>
          <a:prstGeom prst="rect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75104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为什么入池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59152"/>
            <a:ext cx="4480560" cy="19933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AI硬件链是盘前资讯里最容易扩散的科技方向。
• 主板属性符合10%交易框架，适合用纪律型右侧信号处理。
• 若CPO、光模块、通信设备联动走强，它具备被资金挖掘的空间。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480060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828800"/>
            <a:ext cx="64008" cy="2560320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975104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买点与失效条件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359152"/>
            <a:ext cx="4480560" cy="19933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低吸：缩量回踩10/20日线附近，出现十字星或止跌小阳。
• 右侧：放量突破最近一根关键阴线高点，且板块同步走强。
• 失效：放量跌破10日线或开盘冲高回落吞没前日结构。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1097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1F26"/>
                </a:solidFill>
                <a:latin typeface="Microsoft YaHei"/>
              </a:rPr>
              <a:t>执行口令</a:t>
            </a:r>
          </a:p>
        </p:txBody>
      </p:sp>
      <p:sp>
        <p:nvSpPr>
          <p:cNvPr id="15" name="Oval 14"/>
          <p:cNvSpPr/>
          <p:nvPr/>
        </p:nvSpPr>
        <p:spPr>
          <a:xfrm>
            <a:off x="1920240" y="4892040"/>
            <a:ext cx="292608" cy="29260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板块进前排</a:t>
            </a:r>
          </a:p>
        </p:txBody>
      </p:sp>
      <p:sp>
        <p:nvSpPr>
          <p:cNvPr id="17" name="Oval 16"/>
          <p:cNvSpPr/>
          <p:nvPr/>
        </p:nvSpPr>
        <p:spPr>
          <a:xfrm>
            <a:off x="3611880" y="4892040"/>
            <a:ext cx="292608" cy="29260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592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缩量止跌</a:t>
            </a:r>
          </a:p>
        </p:txBody>
      </p:sp>
      <p:sp>
        <p:nvSpPr>
          <p:cNvPr id="19" name="Oval 18"/>
          <p:cNvSpPr/>
          <p:nvPr/>
        </p:nvSpPr>
        <p:spPr>
          <a:xfrm>
            <a:off x="5303520" y="4892040"/>
            <a:ext cx="292608" cy="29260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放量突破</a:t>
            </a:r>
          </a:p>
        </p:txBody>
      </p:sp>
      <p:sp>
        <p:nvSpPr>
          <p:cNvPr id="21" name="Oval 20"/>
          <p:cNvSpPr/>
          <p:nvPr/>
        </p:nvSpPr>
        <p:spPr>
          <a:xfrm>
            <a:off x="6995160" y="4892040"/>
            <a:ext cx="292608" cy="29260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仓位&lt;=50%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4892040"/>
            <a:ext cx="292608" cy="292608"/>
          </a:xfrm>
          <a:prstGeom prst="ellipse">
            <a:avLst/>
          </a:prstGeom>
          <a:solidFill>
            <a:srgbClr val="2B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-3%~-5%止损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来源：东方财富网首页与指数接口、用户方案文档；访问时间 2026-06-08 07:17-07:22 CST。仅作研究，不构成投资建议。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109728" cy="109728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06970"/>
                </a:solidFill>
                <a:latin typeface="Microsoft YaHei"/>
              </a:rPr>
              <a:t>STOCK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1F26"/>
                </a:solidFill>
                <a:latin typeface="Microsoft YaHei"/>
              </a:rPr>
              <a:t>东方精工 002611：机器人/智能装备线的主板回头观察标的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06970"/>
                </a:solidFill>
                <a:latin typeface="Microsoft YaHei"/>
              </a:rPr>
              <a:t>只在条件触发时执行；未触发时保留现金是交易的一部分。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480060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4008" cy="2560320"/>
          </a:xfrm>
          <a:prstGeom prst="rect">
            <a:avLst/>
          </a:prstGeom>
          <a:solidFill>
            <a:srgbClr val="BF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75104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为什么入池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59152"/>
            <a:ext cx="4480560" cy="19933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机器人与设备更新容易在政策窗口反复轮动。
• 公司处在智能制造链条，短线弹性通常强于大市值权重。
• 适合观察“前期强势后缩量回踩”的二波结构。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480060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828800"/>
            <a:ext cx="64008" cy="2560320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975104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买点与失效条件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359152"/>
            <a:ext cx="4480560" cy="19933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低吸：板块强度进入前排，个股缩量贴近均线并止跌。
• 右侧：放量站回关键阴线高点，分时均价线不破。
• 失效：题材无联动、个股孤立拉升或跌破前大阳低点。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1097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1F26"/>
                </a:solidFill>
                <a:latin typeface="Microsoft YaHei"/>
              </a:rPr>
              <a:t>执行口令</a:t>
            </a:r>
          </a:p>
        </p:txBody>
      </p:sp>
      <p:sp>
        <p:nvSpPr>
          <p:cNvPr id="15" name="Oval 14"/>
          <p:cNvSpPr/>
          <p:nvPr/>
        </p:nvSpPr>
        <p:spPr>
          <a:xfrm>
            <a:off x="1920240" y="4892040"/>
            <a:ext cx="292608" cy="292608"/>
          </a:xfrm>
          <a:prstGeom prst="ellipse">
            <a:avLst/>
          </a:prstGeom>
          <a:solidFill>
            <a:srgbClr val="BF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板块进前排</a:t>
            </a:r>
          </a:p>
        </p:txBody>
      </p:sp>
      <p:sp>
        <p:nvSpPr>
          <p:cNvPr id="17" name="Oval 16"/>
          <p:cNvSpPr/>
          <p:nvPr/>
        </p:nvSpPr>
        <p:spPr>
          <a:xfrm>
            <a:off x="3611880" y="4892040"/>
            <a:ext cx="292608" cy="292608"/>
          </a:xfrm>
          <a:prstGeom prst="ellipse">
            <a:avLst/>
          </a:prstGeom>
          <a:solidFill>
            <a:srgbClr val="BF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592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缩量止跌</a:t>
            </a:r>
          </a:p>
        </p:txBody>
      </p:sp>
      <p:sp>
        <p:nvSpPr>
          <p:cNvPr id="19" name="Oval 18"/>
          <p:cNvSpPr/>
          <p:nvPr/>
        </p:nvSpPr>
        <p:spPr>
          <a:xfrm>
            <a:off x="5303520" y="4892040"/>
            <a:ext cx="292608" cy="292608"/>
          </a:xfrm>
          <a:prstGeom prst="ellipse">
            <a:avLst/>
          </a:prstGeom>
          <a:solidFill>
            <a:srgbClr val="BF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放量突破</a:t>
            </a:r>
          </a:p>
        </p:txBody>
      </p:sp>
      <p:sp>
        <p:nvSpPr>
          <p:cNvPr id="21" name="Oval 20"/>
          <p:cNvSpPr/>
          <p:nvPr/>
        </p:nvSpPr>
        <p:spPr>
          <a:xfrm>
            <a:off x="6995160" y="4892040"/>
            <a:ext cx="292608" cy="292608"/>
          </a:xfrm>
          <a:prstGeom prst="ellipse">
            <a:avLst/>
          </a:prstGeom>
          <a:solidFill>
            <a:srgbClr val="BF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仓位&lt;=50%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4892040"/>
            <a:ext cx="292608" cy="292608"/>
          </a:xfrm>
          <a:prstGeom prst="ellipse">
            <a:avLst/>
          </a:prstGeom>
          <a:solidFill>
            <a:srgbClr val="BF8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-3%~-5%止损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来源：东方财富网首页与指数接口、用户方案文档；访问时间 2026-06-08 07:17-07:22 CST。仅作研究，不构成投资建议。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109728" cy="109728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06970"/>
                </a:solidFill>
                <a:latin typeface="Microsoft YaHei"/>
              </a:rPr>
              <a:t>STOCK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1F26"/>
                </a:solidFill>
                <a:latin typeface="Microsoft YaHei"/>
              </a:rPr>
              <a:t>明星电力 600101：电力/能源安全线的防守弹性观察标的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06970"/>
                </a:solidFill>
                <a:latin typeface="Microsoft YaHei"/>
              </a:rPr>
              <a:t>只在条件触发时执行；未触发时保留现金是交易的一部分。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480060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4008" cy="2560320"/>
          </a:xfrm>
          <a:prstGeom prst="rect">
            <a:avLst/>
          </a:prstGeom>
          <a:solidFill>
            <a:srgbClr val="1D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75104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为什么入池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59152"/>
            <a:ext cx="4480560" cy="19933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指数弱势时，电力与能源安全更容易承担防御资金。
• 主板交易规则清晰，适合严格仓位和止损管理。
• 若市场风险偏好下降，它可作为非科技线的备用观察。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480060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828800"/>
            <a:ext cx="64008" cy="2560320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975104"/>
            <a:ext cx="448056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买点与失效条件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359152"/>
            <a:ext cx="4480560" cy="199339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低吸：缩量回踩不破20日线，盘中承接明显。
• 右侧：放量回封或突破整理平台，板块内多股跟随。
• 失效：高开低走、放量滞涨，或跌停/大阴数量明显放大。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83480"/>
            <a:ext cx="10972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1F26"/>
                </a:solidFill>
                <a:latin typeface="Microsoft YaHei"/>
              </a:rPr>
              <a:t>执行口令</a:t>
            </a:r>
          </a:p>
        </p:txBody>
      </p:sp>
      <p:sp>
        <p:nvSpPr>
          <p:cNvPr id="15" name="Oval 14"/>
          <p:cNvSpPr/>
          <p:nvPr/>
        </p:nvSpPr>
        <p:spPr>
          <a:xfrm>
            <a:off x="1920240" y="4892040"/>
            <a:ext cx="292608" cy="292608"/>
          </a:xfrm>
          <a:prstGeom prst="ellipse">
            <a:avLst/>
          </a:prstGeom>
          <a:solidFill>
            <a:srgbClr val="1D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0428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板块进前排</a:t>
            </a:r>
          </a:p>
        </p:txBody>
      </p:sp>
      <p:sp>
        <p:nvSpPr>
          <p:cNvPr id="17" name="Oval 16"/>
          <p:cNvSpPr/>
          <p:nvPr/>
        </p:nvSpPr>
        <p:spPr>
          <a:xfrm>
            <a:off x="3611880" y="4892040"/>
            <a:ext cx="292608" cy="292608"/>
          </a:xfrm>
          <a:prstGeom prst="ellipse">
            <a:avLst/>
          </a:prstGeom>
          <a:solidFill>
            <a:srgbClr val="1D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592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缩量止跌</a:t>
            </a:r>
          </a:p>
        </p:txBody>
      </p:sp>
      <p:sp>
        <p:nvSpPr>
          <p:cNvPr id="19" name="Oval 18"/>
          <p:cNvSpPr/>
          <p:nvPr/>
        </p:nvSpPr>
        <p:spPr>
          <a:xfrm>
            <a:off x="5303520" y="4892040"/>
            <a:ext cx="292608" cy="292608"/>
          </a:xfrm>
          <a:prstGeom prst="ellipse">
            <a:avLst/>
          </a:prstGeom>
          <a:solidFill>
            <a:srgbClr val="1D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放量突破</a:t>
            </a:r>
          </a:p>
        </p:txBody>
      </p:sp>
      <p:sp>
        <p:nvSpPr>
          <p:cNvPr id="21" name="Oval 20"/>
          <p:cNvSpPr/>
          <p:nvPr/>
        </p:nvSpPr>
        <p:spPr>
          <a:xfrm>
            <a:off x="6995160" y="4892040"/>
            <a:ext cx="292608" cy="292608"/>
          </a:xfrm>
          <a:prstGeom prst="ellipse">
            <a:avLst/>
          </a:prstGeom>
          <a:solidFill>
            <a:srgbClr val="1D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仓位&lt;=50%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4892040"/>
            <a:ext cx="292608" cy="292608"/>
          </a:xfrm>
          <a:prstGeom prst="ellipse">
            <a:avLst/>
          </a:prstGeom>
          <a:solidFill>
            <a:srgbClr val="1D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0848" y="4882896"/>
            <a:ext cx="1143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50" b="0">
                <a:solidFill>
                  <a:srgbClr val="606970"/>
                </a:solidFill>
                <a:latin typeface="Microsoft YaHei"/>
              </a:rPr>
              <a:t>-3%~-5%止损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来源：东方财富网首页与指数接口、用户方案文档；访问时间 2026-06-08 07:17-07:22 CST。仅作研究，不构成投资建议。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38912"/>
            <a:ext cx="109728" cy="109728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40233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606970"/>
                </a:solidFill>
                <a:latin typeface="Microsoft YaHei"/>
              </a:rPr>
              <a:t>RISK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69848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81F26"/>
                </a:solidFill>
                <a:latin typeface="Microsoft YaHei"/>
              </a:rPr>
              <a:t>短线胜负不取决于选中三只，而取决于错了能不能马上撤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44752"/>
            <a:ext cx="106984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06970"/>
                </a:solidFill>
                <a:latin typeface="Microsoft YaHei"/>
              </a:rPr>
              <a:t>这套方案的边界要写在交易前，而不是亏损后再解释。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240280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1965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C42D23"/>
                </a:solidFill>
                <a:latin typeface="Microsoft YaHei"/>
              </a:rPr>
              <a:t>&lt;=50%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23744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单股上限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16352"/>
            <a:ext cx="1965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触发即执行，不主观拖延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240280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993392"/>
            <a:ext cx="1965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2B5C8C"/>
                </a:solidFill>
                <a:latin typeface="Microsoft YaHei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23744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观察仓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816352"/>
            <a:ext cx="1965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触发即执行，不主观拖延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2240280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93392"/>
            <a:ext cx="1965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D895C"/>
                </a:solidFill>
                <a:latin typeface="Microsoft YaHei"/>
              </a:rPr>
              <a:t>-3%~-5%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23744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止损线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816352"/>
            <a:ext cx="1965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触发即执行，不主观拖延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828800"/>
            <a:ext cx="2240280" cy="128016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93392"/>
            <a:ext cx="1965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300" b="1">
                <a:solidFill>
                  <a:srgbClr val="BF8B32"/>
                </a:solidFill>
                <a:latin typeface="Microsoft YaHei"/>
              </a:rPr>
              <a:t>+5%~+10%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523744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81F26"/>
                </a:solidFill>
                <a:latin typeface="Microsoft YaHei"/>
              </a:rPr>
              <a:t>首段止盈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816352"/>
            <a:ext cx="19659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40" b="0">
                <a:solidFill>
                  <a:srgbClr val="606970"/>
                </a:solidFill>
                <a:latin typeface="Microsoft YaHei"/>
              </a:rPr>
              <a:t>触发即执行，不主观拖延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703320"/>
            <a:ext cx="489204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703320"/>
            <a:ext cx="64008" cy="1600200"/>
          </a:xfrm>
          <a:prstGeom prst="rect">
            <a:avLst/>
          </a:prstGeom>
          <a:solidFill>
            <a:srgbClr val="1D8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3849624"/>
            <a:ext cx="4572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今天必须暂停交易的情况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233672"/>
            <a:ext cx="4572000" cy="103327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两市跌停明显放大，最高连板下降。
• 三条主线都没有板块效应，只是个股轮动。
• 候选股高开过多、量能异常放大但回封无力。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3703320"/>
            <a:ext cx="489204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3703320"/>
            <a:ext cx="64008" cy="1600200"/>
          </a:xfrm>
          <a:prstGeom prst="rect">
            <a:avLst/>
          </a:prstGeom>
          <a:solidFill>
            <a:srgbClr val="C4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3849624"/>
            <a:ext cx="45720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81F26"/>
                </a:solidFill>
                <a:latin typeface="Microsoft YaHei"/>
              </a:rPr>
              <a:t>今天允许出手的情况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4233672"/>
            <a:ext cx="4572000" cy="1033271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06970"/>
                </a:solidFill>
                <a:latin typeface="Microsoft YaHei"/>
              </a:rPr>
              <a:t>• 涨停原因高度集中，主线清晰。
• 目标股回踩后不破关键支撑。
• 右侧突破时有成交量、分时均价线和板块联动共同确认。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来源：东方财富网首页与指数接口、用户方案文档；访问时间 2026-06-08 07:17-07:22 CST。仅作研究，不构成投资建议。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73152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6月8日盘中检查表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98755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0">
                <a:solidFill>
                  <a:srgbClr val="E6EAEC"/>
                </a:solidFill>
                <a:latin typeface="Microsoft YaHei"/>
              </a:rPr>
              <a:t>先确认主线，再确认龙头，再确认买点。任何一项缺失，都不交易。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9966960" cy="512064"/>
          </a:xfrm>
          <a:prstGeom prst="rect">
            <a:avLst/>
          </a:prstGeom>
          <a:solidFill>
            <a:srgbClr val="303940"/>
          </a:solidFill>
          <a:ln w="8890">
            <a:solidFill>
              <a:srgbClr val="4C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67712"/>
            <a:ext cx="7315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F8B32"/>
                </a:solidFill>
                <a:latin typeface="Microsoft YaHei"/>
              </a:rPr>
              <a:t>09:25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67712"/>
            <a:ext cx="85953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1F1EE"/>
                </a:solidFill>
                <a:latin typeface="Microsoft YaHei"/>
              </a:rPr>
              <a:t>看竞价：AI硬件/机器人/电力哪条线最集中，候选股是否超预期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53512"/>
            <a:ext cx="9966960" cy="512064"/>
          </a:xfrm>
          <a:prstGeom prst="rect">
            <a:avLst/>
          </a:prstGeom>
          <a:solidFill>
            <a:srgbClr val="303940"/>
          </a:solidFill>
          <a:ln w="8890">
            <a:solidFill>
              <a:srgbClr val="4C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72384"/>
            <a:ext cx="7315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F8B32"/>
                </a:solidFill>
                <a:latin typeface="Microsoft YaHei"/>
              </a:rPr>
              <a:t>09:35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72384"/>
            <a:ext cx="85953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1F1EE"/>
                </a:solidFill>
                <a:latin typeface="Microsoft YaHei"/>
              </a:rPr>
              <a:t>看承接：高开是否放量回落，低开是否快速收回均价线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758184"/>
            <a:ext cx="9966960" cy="512064"/>
          </a:xfrm>
          <a:prstGeom prst="rect">
            <a:avLst/>
          </a:prstGeom>
          <a:solidFill>
            <a:srgbClr val="303940"/>
          </a:solidFill>
          <a:ln w="8890">
            <a:solidFill>
              <a:srgbClr val="4C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77056"/>
            <a:ext cx="7315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F8B32"/>
                </a:solidFill>
                <a:latin typeface="Microsoft YaHei"/>
              </a:rPr>
              <a:t>10:30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77056"/>
            <a:ext cx="85953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1F1EE"/>
                </a:solidFill>
                <a:latin typeface="Microsoft YaHei"/>
              </a:rPr>
              <a:t>看扩散：板块内是否出现2只以上涨停/强势封板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62856"/>
            <a:ext cx="9966960" cy="512064"/>
          </a:xfrm>
          <a:prstGeom prst="rect">
            <a:avLst/>
          </a:prstGeom>
          <a:solidFill>
            <a:srgbClr val="303940"/>
          </a:solidFill>
          <a:ln w="8890">
            <a:solidFill>
              <a:srgbClr val="4C5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81728"/>
            <a:ext cx="7315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F8B32"/>
                </a:solidFill>
                <a:latin typeface="Microsoft YaHei"/>
              </a:rPr>
              <a:t>14:30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681728"/>
            <a:ext cx="85953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1F1EE"/>
                </a:solidFill>
                <a:latin typeface="Microsoft YaHei"/>
              </a:rPr>
              <a:t>看纪律：未爆发不加仓，跌破结构直接撤，盈利先兑现一半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3327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最终口径：永鼎股份、东方精工、明星电力进入盘前观察池；开盘后若主线不确认或形态不确认，宁可空仓等待。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0126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30" b="0">
                <a:solidFill>
                  <a:srgbClr val="606970"/>
                </a:solidFill>
                <a:latin typeface="Microsoft YaHei"/>
              </a:rPr>
              <a:t>来源：东方财富网、用户方案文档。风险提示：短线交易高风险，报告不构成任何收益承诺或个性化投资建议。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0">
                <a:solidFill>
                  <a:srgbClr val="60697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